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011680"/>
            <a:ext cx="1280160" cy="8229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FFFFF"/>
                </a:solidFill>
                <a:latin typeface="微软雅黑"/>
              </a:rPr>
              <a:t>中国跨境电商 / 出海赛道分析</a:t>
            </a:r>
          </a:p>
          <a:p>
            <a:pPr>
              <a:spcBef>
                <a:spcPts val="1200"/>
              </a:spcBef>
            </a:pPr>
            <a:r>
              <a:rPr sz="2000" b="0">
                <a:solidFill>
                  <a:srgbClr val="F4F4F0"/>
                </a:solidFill>
                <a:latin typeface="微软雅黑"/>
              </a:rPr>
              <a:t>一个从亲身经历出发、用公开数据验证的行业研究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A8DADE"/>
                </a:solidFill>
                <a:latin typeface="微软雅黑"/>
              </a:rPr>
              <a:t>5 家上市公司 · 现金流深挖 · 创业决策工作台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DD7DC"/>
                </a:solidFill>
                <a:latin typeface="微软雅黑"/>
              </a:rPr>
              <a:t>数据分析 / 商业分析 / 产品方向</a:t>
            </a:r>
          </a:p>
          <a:p>
            <a:r>
              <a:rPr sz="1400" b="0">
                <a:solidFill>
                  <a:srgbClr val="CDD7DC"/>
                </a:solidFill>
                <a:latin typeface="微软雅黑"/>
              </a:rPr>
              <a:t>Xuefei Wang · 2026.09</a:t>
            </a:r>
          </a:p>
          <a:p>
            <a:r>
              <a:rPr sz="1400" b="0">
                <a:solidFill>
                  <a:srgbClr val="CDD7DC"/>
                </a:solidFill>
                <a:latin typeface="微软雅黑"/>
              </a:rPr>
              <a:t>求职作品集（项目叙事版）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C757D"/>
                </a:solidFill>
                <a:latin typeface="微软雅黑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A9D8F"/>
                </a:solidFill>
                <a:latin typeface="微软雅黑"/>
              </a:rPr>
              <a:t>WHY · 起点</a:t>
            </a:r>
          </a:p>
          <a:p>
            <a:r>
              <a:rPr sz="3000" b="1">
                <a:solidFill>
                  <a:srgbClr val="264653"/>
                </a:solidFill>
                <a:latin typeface="微软雅黑"/>
              </a:rPr>
              <a:t>我为什么做这个项目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005840" cy="54864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64653"/>
                </a:solidFill>
                <a:latin typeface="微软雅黑"/>
              </a:rPr>
              <a:t>• 上一份工作：亚马逊运营，卖 1000+ SKU 的工业阀门（品牌 U.S. Solid）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6C757D"/>
                </a:solidFill>
                <a:latin typeface="微软雅黑"/>
              </a:rPr>
              <a:t>职责覆盖：新品选品 / 定价 / 广告 / 库存，会为每个新品算 ROI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64653"/>
                </a:solidFill>
                <a:latin typeface="微软雅黑"/>
              </a:rPr>
              <a:t>• 一个让我困惑的现象：单 SKU 定价时 ROI 算得过来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6C757D"/>
                </a:solidFill>
                <a:latin typeface="微软雅黑"/>
              </a:rPr>
              <a:t>但公司整体却是“利润挺高、越来越不赚钱”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64653"/>
                </a:solidFill>
                <a:latin typeface="微软雅黑"/>
              </a:rPr>
              <a:t>• 我始终在想：钱到底被谁赚走了？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6C757D"/>
                </a:solidFill>
                <a:latin typeface="微软雅黑"/>
              </a:rPr>
              <a:t>是平台（佣金 / 仓储 / 广告）？还是我们自己的模式问题？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4653"/>
                </a:solidFill>
                <a:latin typeface="微软雅黑"/>
              </a:rPr>
              <a:t>• 于是决定：不套用现成数据集，用公开财报 + 官方数据，自己做一次“行业级”验证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C757D"/>
                </a:solidFill>
                <a:latin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A9D8F"/>
                </a:solidFill>
                <a:latin typeface="微软雅黑"/>
              </a:rPr>
              <a:t>QUESTION · 问题</a:t>
            </a:r>
          </a:p>
          <a:p>
            <a:r>
              <a:rPr sz="3000" b="1">
                <a:solidFill>
                  <a:srgbClr val="264653"/>
                </a:solidFill>
                <a:latin typeface="微软雅黑"/>
              </a:rPr>
              <a:t>我把困惑拆成四个可量化的问题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005840" cy="54864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5486400" cy="1737360"/>
          </a:xfrm>
          <a:prstGeom prst="rect">
            <a:avLst/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" cy="17373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64653"/>
                </a:solidFill>
                <a:latin typeface="微软雅黑"/>
              </a:rPr>
              <a:t>① 赛道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C757D"/>
                </a:solidFill>
                <a:latin typeface="微软雅黑"/>
              </a:rPr>
              <a:t>出海这门生意整体还有多大？还在涨吗？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2103120"/>
            <a:ext cx="5486400" cy="1737360"/>
          </a:xfrm>
          <a:prstGeom prst="rect">
            <a:avLst/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6520" y="2103120"/>
            <a:ext cx="109728" cy="17373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3317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64653"/>
                </a:solidFill>
                <a:latin typeface="微软雅黑"/>
              </a:rPr>
              <a:t>② 模式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C757D"/>
                </a:solidFill>
                <a:latin typeface="微软雅黑"/>
              </a:rPr>
              <a:t>品牌 vs 铺货，谁更赚钱、更可持续？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06240"/>
            <a:ext cx="5486400" cy="1737360"/>
          </a:xfrm>
          <a:prstGeom prst="rect">
            <a:avLst/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06240"/>
            <a:ext cx="109728" cy="17373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4348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64653"/>
                </a:solidFill>
                <a:latin typeface="微软雅黑"/>
              </a:rPr>
              <a:t>③ 市场/渠道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C757D"/>
                </a:solidFill>
                <a:latin typeface="微软雅黑"/>
              </a:rPr>
              <a:t>北美 vs 欧洲怎么选？依赖平台是不是问题？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4206240"/>
            <a:ext cx="5486400" cy="1737360"/>
          </a:xfrm>
          <a:prstGeom prst="rect">
            <a:avLst/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4206240"/>
            <a:ext cx="109728" cy="17373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44348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64653"/>
                </a:solidFill>
                <a:latin typeface="微软雅黑"/>
              </a:rPr>
              <a:t>④ 创业视角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C757D"/>
                </a:solidFill>
                <a:latin typeface="微软雅黑"/>
              </a:rPr>
              <a:t>从活下来的公司反推：怎么起步才能活得久、何时该转型？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C757D"/>
                </a:solidFill>
                <a:latin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A9D8F"/>
                </a:solidFill>
                <a:latin typeface="微软雅黑"/>
              </a:rPr>
              <a:t>METHOD · 方法</a:t>
            </a:r>
          </a:p>
          <a:p>
            <a:r>
              <a:rPr sz="3000" b="1">
                <a:solidFill>
                  <a:srgbClr val="264653"/>
                </a:solidFill>
                <a:latin typeface="微软雅黑"/>
              </a:rPr>
              <a:t>数据怎么来：全部公开、可核验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005840" cy="54864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64653"/>
                </a:solidFill>
                <a:latin typeface="微软雅黑"/>
              </a:rPr>
              <a:t>• 对象：5 家 A 股上市公司（安克创新 / 致欧科技 / 赛维时代 / 华凯易佰 / 吉宏股份）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6C757D"/>
                </a:solidFill>
                <a:latin typeface="微软雅黑"/>
              </a:rPr>
              <a:t>数据：多期财务摘要 + 主营构成 + 现金流量表/资产负债表（akshare 采集，与公开报道抽查核对）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6C757D"/>
                </a:solidFill>
                <a:latin typeface="微软雅黑"/>
              </a:rPr>
              <a:t>宏观：海关总署跨境电商进出口数据 + 行业公开统计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64653"/>
                </a:solidFill>
                <a:latin typeface="微软雅黑"/>
              </a:rPr>
              <a:t>• 三层框架：宏观(行业规模) → 中观(公司对比) → 微观(现金流验证)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64653"/>
                </a:solidFill>
                <a:latin typeface="微软雅黑"/>
              </a:rPr>
              <a:t>• 为什么是这 5 家：同属“跨境卖家”，覆盖 品牌×铺货 × 北美×欧洲×东南亚 × 平台×独立站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64653"/>
                </a:solidFill>
                <a:latin typeface="微软雅黑"/>
              </a:rPr>
              <a:t>• 合规：全部公开数据，无爬取；每个口径都记录在数据字典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C757D"/>
                </a:solidFill>
                <a:latin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A9D8F"/>
                </a:solidFill>
                <a:latin typeface="微软雅黑"/>
              </a:rPr>
              <a:t>FINDING ① · 赛道</a:t>
            </a:r>
          </a:p>
          <a:p>
            <a:r>
              <a:rPr sz="3000" b="1">
                <a:solidFill>
                  <a:srgbClr val="264653"/>
                </a:solidFill>
                <a:latin typeface="微软雅黑"/>
              </a:rPr>
              <a:t>行业还在增长，但增速已换挡、格局极度分散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005840" cy="54864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64653"/>
                </a:solidFill>
                <a:latin typeface="微软雅黑"/>
              </a:rPr>
              <a:t>• 2025 终核 2.84 万亿元（出口 2.27 万亿），同比 +4.8%（前几年 +10~15%）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64653"/>
                </a:solidFill>
                <a:latin typeface="微软雅黑"/>
              </a:rPr>
              <a:t>• 美国仍是第一大出口目的国，占比约 36.2%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64653"/>
                </a:solidFill>
                <a:latin typeface="微软雅黑"/>
              </a:rPr>
              <a:t>• 5 家龙头 2025 营收合计 ≈ 668.8 亿 ≈ 出口额的 2.9%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6C757D"/>
                </a:solidFill>
                <a:latin typeface="微软雅黑"/>
              </a:rPr>
              <a:t>最大的安克 ≈ 1.3% —— 行业高度分散、长尾玩家众多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6C757D"/>
                </a:solidFill>
                <a:latin typeface="微软雅黑"/>
              </a:rPr>
              <a:t>含义：门槛低、进入多、竞争激烈，也解释了“起得快、倒得多”</a:t>
            </a:r>
          </a:p>
        </p:txBody>
      </p:sp>
      <p:pic>
        <p:nvPicPr>
          <p:cNvPr id="7" name="Picture 6" descr="m2_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965960"/>
            <a:ext cx="4937760" cy="2410097"/>
          </a:xfrm>
          <a:prstGeom prst="rect">
            <a:avLst/>
          </a:prstGeom>
        </p:spPr>
      </p:pic>
      <p:pic>
        <p:nvPicPr>
          <p:cNvPr id="8" name="Picture 7" descr="m2_export_destin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4206240"/>
            <a:ext cx="4937760" cy="27357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06424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C757D"/>
                </a:solidFill>
                <a:latin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A9D8F"/>
                </a:solidFill>
                <a:latin typeface="微软雅黑"/>
              </a:rPr>
              <a:t>FINDING ② · 模式</a:t>
            </a:r>
          </a:p>
          <a:p>
            <a:r>
              <a:rPr sz="3000" b="1">
                <a:solidFill>
                  <a:srgbClr val="264653"/>
                </a:solidFill>
                <a:latin typeface="微软雅黑"/>
              </a:rPr>
              <a:t>销售费用率是“模式”的分水岭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005840" cy="54864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64653"/>
                </a:solidFill>
                <a:latin typeface="微软雅黑"/>
              </a:rPr>
              <a:t>• 安克（品牌）：毛利 45% + 销售费用 22% → 净利 8.3%、营收 +23.5%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64653"/>
                </a:solidFill>
                <a:latin typeface="微软雅黑"/>
              </a:rPr>
              <a:t>• 赛维（铺货）：毛利 43% 不低，但销售费用 35% → 净利只剩 2.4%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6C757D"/>
                </a:solidFill>
                <a:latin typeface="微软雅黑"/>
              </a:rPr>
              <a:t>华凯易佰（铺货）：净利 1.6%、增速 +1.2% —— 增收不增利、增长见顶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64653"/>
                </a:solidFill>
                <a:latin typeface="微软雅黑"/>
              </a:rPr>
              <a:t>• 结论：毛利率高 ≠ 赚钱，费用结构才是模式分水岭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6C757D"/>
                </a:solidFill>
                <a:latin typeface="微软雅黑"/>
              </a:rPr>
              <a:t>品牌靠产品力与复购压低“流量税”，铺货靠买量，天然更重</a:t>
            </a:r>
          </a:p>
        </p:txBody>
      </p:sp>
      <p:pic>
        <p:nvPicPr>
          <p:cNvPr id="7" name="Picture 6" descr="m3_margin_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194560"/>
            <a:ext cx="4937760" cy="24411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6424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C757D"/>
                </a:solidFill>
                <a:latin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A9D8F"/>
                </a:solidFill>
                <a:latin typeface="微软雅黑"/>
              </a:rPr>
              <a:t>FINDING ③ · 市场</a:t>
            </a:r>
          </a:p>
          <a:p>
            <a:r>
              <a:rPr sz="3000" b="1">
                <a:solidFill>
                  <a:srgbClr val="264653"/>
                </a:solidFill>
                <a:latin typeface="微软雅黑"/>
              </a:rPr>
              <a:t>欧洲毛利更高，但天花板与本地化门槛并存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005840" cy="54864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64653"/>
                </a:solidFill>
                <a:latin typeface="微软雅黑"/>
              </a:rPr>
              <a:t>• 致欧是唯一披露欧美细分的公司：欧洲毛利率 36.4% &gt; 美加 30.3%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64653"/>
                </a:solidFill>
                <a:latin typeface="微软雅黑"/>
              </a:rPr>
              <a:t>• 但致欧增速 +7.1%，明显慢于北美为主的安克（+23.5%）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6C757D"/>
                </a:solidFill>
                <a:latin typeface="微软雅黑"/>
              </a:rPr>
              <a:t>本地化门槛：VAT/EPR、多语言、产品标准</a:t>
            </a:r>
          </a:p>
          <a:p>
            <a:pPr lvl="1">
              <a:spcAft>
                <a:spcPts val="1000"/>
              </a:spcAft>
            </a:pPr>
            <a:r>
              <a:rPr sz="1400" b="1">
                <a:solidFill>
                  <a:srgbClr val="6C757D"/>
                </a:solidFill>
                <a:latin typeface="微软雅黑"/>
              </a:rPr>
              <a:t>我在阀门品类的亲历：美国 NPT 螺纹 vs 欧洲 G 螺纹 → 同一品类要重做产品线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64653"/>
                </a:solidFill>
                <a:latin typeface="微软雅黑"/>
              </a:rPr>
              <a:t>• 判断：美国走规模、欧洲赚毛利；先单点跑通再复制</a:t>
            </a:r>
          </a:p>
        </p:txBody>
      </p:sp>
      <p:pic>
        <p:nvPicPr>
          <p:cNvPr id="7" name="Picture 6" descr="m3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194560"/>
            <a:ext cx="4937760" cy="24411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6424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C757D"/>
                </a:solidFill>
                <a:latin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A9D8F"/>
                </a:solidFill>
                <a:latin typeface="微软雅黑"/>
              </a:rPr>
              <a:t>FINDING ④ · 现金流（我最意外的发现）</a:t>
            </a:r>
          </a:p>
          <a:p>
            <a:r>
              <a:rPr sz="3000" b="1">
                <a:solidFill>
                  <a:srgbClr val="264653"/>
                </a:solidFill>
                <a:latin typeface="微软雅黑"/>
              </a:rPr>
              <a:t>利润 ≠ 现金：安克 2025 的“有利润没现金”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005840" cy="54864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64653"/>
                </a:solidFill>
                <a:latin typeface="微软雅黑"/>
              </a:rPr>
              <a:t>• 安克 2025：归母净利 25.5 亿，经营现金流仅 4.8 亿（OCF/净利 ≈ 0.19）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64653"/>
                </a:solidFill>
                <a:latin typeface="微软雅黑"/>
              </a:rPr>
              <a:t>• 追查现金流量表调节附表：存货增加占用约 20 亿、应收增加约 6.6 亿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6C757D"/>
                </a:solidFill>
                <a:latin typeface="微软雅黑"/>
              </a:rPr>
              <a:t>资产负债表交叉验证：存货余额 24 → 32 → 50 亿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64653"/>
                </a:solidFill>
                <a:latin typeface="微软雅黑"/>
              </a:rPr>
              <a:t>• 这就是我上一份工作的困惑的“上市公司版”：利润被货和应收占住了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6C757D"/>
                </a:solidFill>
                <a:latin typeface="微软雅黑"/>
              </a:rPr>
              <a:t>结论：规模扩张期，经营现金流才是生命线</a:t>
            </a:r>
          </a:p>
        </p:txBody>
      </p:sp>
      <p:pic>
        <p:nvPicPr>
          <p:cNvPr id="7" name="Picture 6" descr="m3b_anker_cash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194560"/>
            <a:ext cx="4937760" cy="19479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6424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C757D"/>
                </a:solidFill>
                <a:latin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A9D8F"/>
                </a:solidFill>
                <a:latin typeface="微软雅黑"/>
              </a:rPr>
              <a:t>VALIDATION · 验证</a:t>
            </a:r>
          </a:p>
          <a:p>
            <a:r>
              <a:rPr sz="3000" b="1">
                <a:solidFill>
                  <a:srgbClr val="264653"/>
                </a:solidFill>
                <a:latin typeface="微软雅黑"/>
              </a:rPr>
              <a:t>结论之前，我先做三件事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005840" cy="54864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64653"/>
                </a:solidFill>
                <a:latin typeface="微软雅黑"/>
              </a:rPr>
              <a:t>① 数据抽查：安克 2025 营收 305.1 亿 与公开报道核对一致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64653"/>
                </a:solidFill>
                <a:latin typeface="微软雅黑"/>
              </a:rPr>
              <a:t>② 交叉验证：调节表（存货 -20 亿）↔ 资产负债表（存货 +17.6 亿）互相印证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64653"/>
                </a:solidFill>
                <a:latin typeface="微软雅黑"/>
              </a:rPr>
              <a:t>③ 主动声明局限：上市公司是幸存者（幸存者偏差）；欧美细分只有致欧披露；吉宏含包装需看分部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64653"/>
                </a:solidFill>
                <a:latin typeface="微软雅黑"/>
              </a:rPr>
              <a:t>• 结论只到证据能到的地方：安克备货是主动还是被动？→ 标“待年报附注确认”，不下定论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C757D"/>
                </a:solidFill>
                <a:latin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A9D8F"/>
                </a:solidFill>
                <a:latin typeface="微软雅黑"/>
              </a:rPr>
              <a:t>CONCLUSION · 结论</a:t>
            </a:r>
          </a:p>
          <a:p>
            <a:r>
              <a:rPr sz="3000" b="1">
                <a:solidFill>
                  <a:srgbClr val="264653"/>
                </a:solidFill>
                <a:latin typeface="微软雅黑"/>
              </a:rPr>
              <a:t>四个可以带走、也能被追问的判断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005840" cy="54864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822960" cy="86868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① 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212848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64653"/>
                </a:solidFill>
                <a:latin typeface="微软雅黑"/>
              </a:rPr>
              <a:t>销售费用率是分水岭：品牌 22% vs 铺货 35%，毛利率高≠赚钱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54679"/>
            <a:ext cx="822960" cy="86868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② 市场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264408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64653"/>
                </a:solidFill>
                <a:latin typeface="微软雅黑"/>
              </a:rPr>
              <a:t>美国走规模、欧洲赚毛利；本地化是欧洲的隐形门槛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06240"/>
            <a:ext cx="822960" cy="86868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③ 现金流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315968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64653"/>
                </a:solidFill>
                <a:latin typeface="微软雅黑"/>
              </a:rPr>
              <a:t>利润≠现金：备货与回款是跨境电商的生死线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257800"/>
            <a:ext cx="822960" cy="86868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44068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④ 格局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5367528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64653"/>
                </a:solidFill>
                <a:latin typeface="微软雅黑"/>
              </a:rPr>
              <a:t>龙头集中度 &lt;3%：细分做深（如长尾全品类）是中小卖家的路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C757D"/>
                </a:solidFill>
                <a:latin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A9D8F"/>
                </a:solidFill>
                <a:latin typeface="微软雅黑"/>
              </a:rPr>
              <a:t>PRODUCTIZE · 落地</a:t>
            </a:r>
          </a:p>
          <a:p>
            <a:r>
              <a:rPr sz="3000" b="1">
                <a:solidFill>
                  <a:srgbClr val="264653"/>
                </a:solidFill>
                <a:latin typeface="微软雅黑"/>
              </a:rPr>
              <a:t>把结论做成能用的工具：创业决策工作台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005840" cy="54864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4754880" cy="868680"/>
          </a:xfrm>
          <a:prstGeom prst="rect">
            <a:avLst/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A9D8F"/>
                </a:solidFill>
                <a:latin typeface="微软雅黑"/>
              </a:rPr>
              <a:t>P1 单位经济测算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2176272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6C757D"/>
                </a:solidFill>
                <a:latin typeface="微软雅黑"/>
              </a:rPr>
              <a:t>单件赚不赚钱？盈亏平衡 ACOS；Case Pack 双方案对比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54679"/>
            <a:ext cx="4754880" cy="868680"/>
          </a:xfrm>
          <a:prstGeom prst="rect">
            <a:avLst/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A9D8F"/>
                </a:solidFill>
                <a:latin typeface="微软雅黑"/>
              </a:rPr>
              <a:t>P2 选品类助手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3227832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6C757D"/>
                </a:solidFill>
                <a:latin typeface="微软雅黑"/>
              </a:rPr>
              <a:t>单位经济可行性 + 风险规则 → 能不能做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06240"/>
            <a:ext cx="4754880" cy="868680"/>
          </a:xfrm>
          <a:prstGeom prst="rect">
            <a:avLst/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97679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A9D8F"/>
                </a:solidFill>
                <a:latin typeface="微软雅黑"/>
              </a:rPr>
              <a:t>P3 市场选择器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4279392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6C757D"/>
                </a:solidFill>
                <a:latin typeface="微软雅黑"/>
              </a:rPr>
              <a:t>规模 / 毛利 / 竞争 / 本地化 加权 → 先做哪个市场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257800"/>
            <a:ext cx="4754880" cy="868680"/>
          </a:xfrm>
          <a:prstGeom prst="rect">
            <a:avLst/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4924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A9D8F"/>
                </a:solidFill>
                <a:latin typeface="微软雅黑"/>
              </a:rPr>
              <a:t>P4 经营健康体检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5330952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6C757D"/>
                </a:solidFill>
                <a:latin typeface="微软雅黑"/>
              </a:rPr>
              <a:t>输入你的指标 → 对标 5 家上市公司 → 危险信号 + 阶段建议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76F51"/>
                </a:solidFill>
                <a:latin typeface="微软雅黑"/>
              </a:rPr>
              <a:t>从“看报表”到“能决策”：每一页都基于 5 家公司的真实财务基准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C757D"/>
                </a:solidFill>
                <a:latin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A9D8F"/>
                </a:solidFill>
                <a:latin typeface="微软雅黑"/>
              </a:rPr>
              <a:t>REFLECTION · 复盘</a:t>
            </a:r>
          </a:p>
          <a:p>
            <a:r>
              <a:rPr sz="3000" b="1">
                <a:solidFill>
                  <a:srgbClr val="264653"/>
                </a:solidFill>
                <a:latin typeface="微软雅黑"/>
              </a:rPr>
              <a:t>做得好的 &amp; 下次能更好的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005840" cy="54864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64653"/>
                </a:solidFill>
                <a:latin typeface="微软雅黑"/>
              </a:rPr>
              <a:t>• 做得好的：从亲身困惑出发 / 三层框架 / 现金流深挖 / 把结论做成工具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64653"/>
                </a:solidFill>
                <a:latin typeface="微软雅黑"/>
              </a:rPr>
              <a:t>• 不足与边界：销售费用没拆“广告 vs 佣金”；缺 2026H1 与关税影响；供应商报价、需求热度这类私有数据只能给框架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64653"/>
                </a:solidFill>
                <a:latin typeface="微软雅黑"/>
              </a:rPr>
              <a:t>• 如果重来：会更早看现金流量表；先用少量行业访谈补“定性”，再用数据验证“定量”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64653"/>
                </a:solidFill>
                <a:latin typeface="微软雅黑"/>
              </a:rPr>
              <a:t>• 可迁移：这套“提问 → 取数 → 验证 → 结论 → 工具化”的流程，适用于任何行业研究 / 商业分析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C757D"/>
                </a:solidFill>
                <a:latin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F4F4F0"/>
                </a:solidFill>
                <a:latin typeface="微软雅黑"/>
              </a:rPr>
              <a:t>数据之外，我更想让你看到的，是我的思考方式：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微软雅黑"/>
              </a:rPr>
              <a:t>会提问 —— 从一句“公司怎么不赚钱”出发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微软雅黑"/>
              </a:rPr>
              <a:t>会验证 —— 公开数据也能做严谨的研究：口径、抽查、交叉验证、写清局限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微软雅黑"/>
              </a:rPr>
              <a:t>会落地 —— 把结论做成能用的工具，而不只是报告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微软雅黑"/>
              </a:rPr>
              <a:t>会复盘 —— 知道自己哪里好、哪里还能更好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DD7DC"/>
                </a:solidFill>
                <a:latin typeface="微软雅黑"/>
              </a:rPr>
              <a:t>Xuefei Wang · 2026.09 · 联系与更多材料见简历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C757D"/>
                </a:solidFill>
                <a:latin typeface="微软雅黑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